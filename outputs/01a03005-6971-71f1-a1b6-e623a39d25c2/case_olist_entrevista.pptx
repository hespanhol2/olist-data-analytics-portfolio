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846c906eef461e" /><Relationship Type="http://schemas.openxmlformats.org/officeDocument/2006/relationships/extended-properties" Target="/docProps/app.xml" Id="R35d8e775c067487b" /><Relationship Type="http://schemas.openxmlformats.org/officeDocument/2006/relationships/officeDocument" Target="/ppt/presentation.xml" Id="Rba4a46d1b28649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46069e040e461f"/>
  </p:sldMasterIdLst>
  <p:notesMasterIdLst>
    <p:notesMasterId xmlns:r="http://schemas.openxmlformats.org/officeDocument/2006/relationships" r:id="R3f82d447907c432a"/>
  </p:notesMasterIdLst>
  <p:sldIdLst>
    <p:sldId xmlns:r="http://schemas.openxmlformats.org/officeDocument/2006/relationships" id="256" r:id="R40ec6a74eaee48cb"/>
    <p:sldId xmlns:r="http://schemas.openxmlformats.org/officeDocument/2006/relationships" id="257" r:id="R60eec19f65a744fe"/>
    <p:sldId xmlns:r="http://schemas.openxmlformats.org/officeDocument/2006/relationships" id="258" r:id="R5e1912cb4c3a4bcc"/>
    <p:sldId xmlns:r="http://schemas.openxmlformats.org/officeDocument/2006/relationships" id="259" r:id="Rc272f6bc57484944"/>
    <p:sldId xmlns:r="http://schemas.openxmlformats.org/officeDocument/2006/relationships" id="260" r:id="Rec99365d85714131"/>
    <p:sldId xmlns:r="http://schemas.openxmlformats.org/officeDocument/2006/relationships" id="261" r:id="R3f7860b2f6874b37"/>
    <p:sldId xmlns:r="http://schemas.openxmlformats.org/officeDocument/2006/relationships" id="262" r:id="R88834d743d1e46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8404975ee14b4a" /><Relationship Type="http://schemas.openxmlformats.org/officeDocument/2006/relationships/slideMaster" Target="/ppt/slideMasters/slideMaster1.xml" Id="R5046069e040e461f" /><Relationship Type="http://schemas.openxmlformats.org/officeDocument/2006/relationships/notesMaster" Target="/ppt/notesMasters/notesMaster1.xml" Id="R3f82d447907c432a" /><Relationship Type="http://schemas.openxmlformats.org/officeDocument/2006/relationships/presProps" Target="/ppt/presProps.xml" Id="R26816264c0494b46" /><Relationship Type="http://schemas.openxmlformats.org/officeDocument/2006/relationships/tableStyles" Target="/ppt/tableStyles.xml" Id="R4ace407a31e74820" /><Relationship Type="http://schemas.openxmlformats.org/officeDocument/2006/relationships/slide" Target="/ppt/slides/slide1.xml" Id="R40ec6a74eaee48cb" /><Relationship Type="http://schemas.openxmlformats.org/officeDocument/2006/relationships/slide" Target="/ppt/slides/slide2.xml" Id="R60eec19f65a744fe" /><Relationship Type="http://schemas.openxmlformats.org/officeDocument/2006/relationships/slide" Target="/ppt/slides/slide3.xml" Id="R5e1912cb4c3a4bcc" /><Relationship Type="http://schemas.openxmlformats.org/officeDocument/2006/relationships/slide" Target="/ppt/slides/slide4.xml" Id="Rc272f6bc57484944" /><Relationship Type="http://schemas.openxmlformats.org/officeDocument/2006/relationships/slide" Target="/ppt/slides/slide5.xml" Id="Rec99365d85714131" /><Relationship Type="http://schemas.openxmlformats.org/officeDocument/2006/relationships/slide" Target="/ppt/slides/slide6.xml" Id="R3f7860b2f6874b37" /><Relationship Type="http://schemas.openxmlformats.org/officeDocument/2006/relationships/slide" Target="/ppt/slides/slide7.xml" Id="R88834d743d1e46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00170ecaba40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781bc35bdf4d0c" /><Relationship Type="http://schemas.openxmlformats.org/officeDocument/2006/relationships/notesMaster" Target="/ppt/notesMasters/notesMaster1.xml" Id="Rfefe32073e5f42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9dc9d3d8074d49" /><Relationship Type="http://schemas.openxmlformats.org/officeDocument/2006/relationships/notesMaster" Target="/ppt/notesMasters/notesMaster1.xml" Id="Rda7af6aaeb5440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04775241624613" /><Relationship Type="http://schemas.openxmlformats.org/officeDocument/2006/relationships/notesMaster" Target="/ppt/notesMasters/notesMaster1.xml" Id="R91bc315358eb42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12344328a44373" /><Relationship Type="http://schemas.openxmlformats.org/officeDocument/2006/relationships/notesMaster" Target="/ppt/notesMasters/notesMaster1.xml" Id="R4e6010970d0247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584f6fd86a4215" /><Relationship Type="http://schemas.openxmlformats.org/officeDocument/2006/relationships/notesMaster" Target="/ppt/notesMasters/notesMaster1.xml" Id="Rda4a0bc7d41740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858b9d0ed34327" /><Relationship Type="http://schemas.openxmlformats.org/officeDocument/2006/relationships/notesMaster" Target="/ppt/notesMasters/notesMaster1.xml" Id="R04f70d27a7034b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86f8137a45410f" /><Relationship Type="http://schemas.openxmlformats.org/officeDocument/2006/relationships/notesMaster" Target="/ppt/notesMasters/notesMaster1.xml" Id="Rfb37251990cb48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Abra pelas três perguntas: o que aconteceu, por que aconteceu e o que fazer.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https://www.kaggle.com/datasets/olistbr/brazilian-ecommerce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Destaque que a regra de negócio fica no banco e é compartilhada por Power BI, Python e Excel.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https://www.kaggle.com/datasets/olistbr/brazilian-ecommerce</a:t>
            </a:r>
          </a:p>
          <a:p xmlns:a="http://schemas.openxmlformats.org/drawingml/2006/main">
            <a:r>
              <a:t>- https://www.psycopg.org/psycopg3/docs/basic/copy.html</a:t>
            </a:r>
          </a:p>
          <a:p xmlns:a="http://schemas.openxmlformats.org/drawingml/2006/main">
            <a:r>
              <a:t>- https://learn.microsoft.com/en-us/power-query/connectors/postgresql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Explique a identidade GMV = pedidos × ticket e a decomposição pelo ponto médio.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https://www.kaggle.com/datasets/olistbr/brazilian-ecommerce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Evite vender um RFM sofisticado: a baixa frequência pede regras simples e acionáveis.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https://www.kaggle.com/datasets/olistbr/brazilian-ecommerce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Faça a distinção entre associação e causalidade. Use o achado para priorizar investigação e 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https://www.kaggle.com/datasets/olistbr/brazilian-ecommerce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Enfatize que o grupo de controle separa efeito da campanha de compras que aconteceriam naturalmente.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https://www.kaggle.com/datasets/olistbr/brazilian-ecommerce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Feche conectando crescimento, recorrência e experiência em uma única decisão.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https://www.kaggle.com/datasets/olistbr/brazilian-ecommerce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b86c033764b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fcc2c36dea4d1f" /><Relationship Type="http://schemas.openxmlformats.org/officeDocument/2006/relationships/slideLayout" Target="/ppt/slideLayouts/slideLayout1.xml" Id="R676169c7cefe41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6169c7cefe41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2758bc38c4cd1" /><Relationship Type="http://schemas.openxmlformats.org/officeDocument/2006/relationships/notesSlide" Target="/ppt/notesSlides/notesSlide1.xml" Id="Rb98d0ed64acd4a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22faf7c4e4b52" /><Relationship Type="http://schemas.openxmlformats.org/officeDocument/2006/relationships/notesSlide" Target="/ppt/notesSlides/notesSlide2.xml" Id="Rb4829ecd086341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5b03dcaba430f" /><Relationship Type="http://schemas.openxmlformats.org/officeDocument/2006/relationships/chart" Target="/ppt/slides/charts/chart1.xml" Id="R018b866a63f84ed2" /><Relationship Type="http://schemas.openxmlformats.org/officeDocument/2006/relationships/notesSlide" Target="/ppt/notesSlides/notesSlide3.xml" Id="R5646afae1f3c41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f3ab617b44bfe" /><Relationship Type="http://schemas.openxmlformats.org/officeDocument/2006/relationships/notesSlide" Target="/ppt/notesSlides/notesSlide4.xml" Id="R1376b6615bdb40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3960ac45c48ac" /><Relationship Type="http://schemas.openxmlformats.org/officeDocument/2006/relationships/chart" Target="/ppt/slides/charts/chart2.xml" Id="R9815f1b527b74366" /><Relationship Type="http://schemas.openxmlformats.org/officeDocument/2006/relationships/notesSlide" Target="/ppt/notesSlides/notesSlide5.xml" Id="Rc14cf9b562704d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9650163ce4489" /><Relationship Type="http://schemas.openxmlformats.org/officeDocument/2006/relationships/notesSlide" Target="/ppt/notesSlides/notesSlide6.xml" Id="Ra0efdf1b9e8c48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8b89da71f4412" /><Relationship Type="http://schemas.openxmlformats.org/officeDocument/2006/relationships/notesSlide" Target="/ppt/notesSlides/notesSlide7.xml" Id="R7d97475c19734b9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GMV (R$ mi)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Jan–ago/2017</c:v>
              </c:pt>
              <c:pt idx="1">
                <c:v>Jan–ago/2018</c:v>
              </c:pt>
            </c:strLit>
          </c:cat>
          <c:val>
            <c:numLit>
              <c:formatCode>0.0" mi"</c:formatCode>
              <c:ptCount val="2"/>
              <c:pt idx="0">
                <c:v>3.47</c:v>
              </c:pt>
              <c:pt idx="1">
                <c:v>8.45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0.0&quot; mi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Nota média</c:v>
          </c:tx>
          <c:spPr>
            <a:solidFill xmlns:a="http://schemas.openxmlformats.org/drawingml/2006/main">
              <a:srgbClr val="3D8DF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4A261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76F51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D95D39"/>
              </a:solidFill>
            </c:spPr>
          </c:dPt>
          <c:cat>
            <c:strLit>
              <c:ptCount val="5"/>
              <c:pt idx="0">
                <c:v>3+ dias antes</c:v>
              </c:pt>
              <c:pt idx="1">
                <c:v>No prazo</c:v>
              </c:pt>
              <c:pt idx="2">
                <c:v>1–3 dias atraso</c:v>
              </c:pt>
              <c:pt idx="3">
                <c:v>4–7 dias atraso</c:v>
              </c:pt>
              <c:pt idx="4">
                <c:v>8+ dias atraso</c:v>
              </c:pt>
            </c:strLit>
          </c:cat>
          <c:val>
            <c:numLit>
              <c:formatCode>General</c:formatCode>
              <c:ptCount val="5"/>
              <c:pt idx="0">
                <c:v>4.3</c:v>
              </c:pt>
              <c:pt idx="1">
                <c:v>4.13</c:v>
              </c:pt>
              <c:pt idx="2">
                <c:v>3.77</c:v>
              </c:pt>
              <c:pt idx="3">
                <c:v>2.32</c:v>
              </c:pt>
              <c:pt idx="4">
                <c:v>1.73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3E993531-B0C0-4B61-9481-5D8F302B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Crescimento,
clientes e experiência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0798600-9984-4E8C-BA2C-0C8384E0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Olist | Python + PostgreSQL + Power BI | Agosto de 2026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957A53C-6F84-4BF0-B3E7-7DD2CE4C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CASE DE PORTFÓLIO</a:t>
            </a:r>
          </a:p>
        </p:txBody>
      </p:sp>
    </p:spTree>
    <p:extLst>
      <p:ext uri="{BB962C8B-B14F-4D97-AF65-F5344CB8AC3E}">
        <p14:creationId xmlns:p14="http://schemas.microsoft.com/office/powerpoint/2010/main" val="17744619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0A66756-0AA5-4736-889A-79A00953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278F447-2440-4A5F-B9E5-18798D9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Uma definição única conecta dados e decisão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F1A49AA-1D29-41BB-A0DA-EA592A0D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6D0248FD-3D80-44F4-A36E-F013458C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BE2A575A-6F9B-40B0-9E21-4E5D0553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E96A0EE1-B979-47D5-8267-39354561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3EF6A7DD-1ADB-4176-883F-8ACEAC5E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Python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Carrega nove CSVs via COPY, valida arquivos e automatiza as exportações.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BFCA1AE3-A4E1-4E9A-BDD1-113D92BF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7F50713B-FB9E-4604-A1BF-EB253CBC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PostgreSQL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Controla o grão, aplica chaves e concentra fatos, dimensões e marts.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AE1353D8-3610-45BC-B1C6-2B3A883D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DD187451-823E-4F25-9B8B-657DB1E0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Power BI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Consome apenas o schema bi com usuário somente leitura e medidas DAX.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E9D97B7F-769A-40EF-B3D6-56AC79F8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524500"/>
            <a:ext cx="2595944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Regra única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0A1101ED-66BF-4DF4-BF7E-D34F140C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524500"/>
            <a:ext cx="2595944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Ingestão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0C9665E0-1130-46AA-BBC5-19F574B8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524500"/>
            <a:ext cx="2595944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Decisão</a:t>
            </a:r>
          </a:p>
        </p:txBody>
      </p:sp>
    </p:spTree>
    <p:extLst>
      <p:ext uri="{BB962C8B-B14F-4D97-AF65-F5344CB8AC3E}">
        <p14:creationId xmlns:p14="http://schemas.microsoft.com/office/powerpoint/2010/main" val="17439040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4474D799-D95D-418E-AE9F-5F2EE3CE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572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0000"/>
                </a:solidFill>
              </a:defRPr>
            </a:pPr>
            <a:r>
              <a:rPr sz="2400">
                <a:solidFill>
                  <a:srgbClr val="000000"/>
                </a:solidFill>
              </a:rPr>
              <a:t>O crescimento veio quase todo de mais pedidos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19100" y="1428750"/>
          <a:ext xmlns:a="http://schemas.openxmlformats.org/drawingml/2006/main" cx="5095875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8b866a63f84ed2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CBC9C-621E-4298-9648-3F37BC54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C9E7A-5EAF-486A-BC69-918FF34A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"/>
            <a:ext cx="95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D01DCD-06E3-4465-ADBB-9DBCAF58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9125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+143,4%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988A9-024C-4ECA-9761-8CAF98DD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"/>
            <a:ext cx="28860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O GMV avançou de R$ 3,47 mi para R$ 8,45 mi.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0531D-3FC1-4093-A1BE-77DCFA3D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A95FB-BCBD-4CC5-9907-DDC91B18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95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3ED5C-BF32-4FA4-9CAB-31F4E4B2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0325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98,3%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1BF0A-1555-45DE-B998-093769F3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8860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do ganho é explicado pelo volume; pedidos cresceram 139,9%.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A3582-1F5E-4D83-9068-6F88D67B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8150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621705-58C8-421B-90FD-30363B37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81500"/>
            <a:ext cx="95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4DCA87-CFDC-48F8-B237-F793BFC3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+1,4%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E87021-B8B9-4F79-9878-241E3C3F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9625"/>
            <a:ext cx="28860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de ticket médio. Saúde/beleza e relógios/presentes somaram 22,6% do aumento.</a:t>
            </a:r>
          </a:p>
        </p:txBody>
      </p:sp>
      <p:sp>
        <p:nvSpPr>
          <p:cNvPr id="15" name="footer-3">
            <a:extLst xmlns:a="http://schemas.openxmlformats.org/drawingml/2006/main">
              <a:ext uri="{FF2B5EF4-FFF2-40B4-BE49-F238E27FC236}">
                <a16:creationId xmlns:a16="http://schemas.microsoft.com/office/drawing/2014/main" id="{597F7B66-AB7C-43DF-BC79-4AD1F654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</a:defRPr>
            </a:pPr>
            <a:r>
              <a:rPr sz="1000">
                <a:solidFill>
                  <a:srgbClr val="00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091348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9E9CE87F-E920-4091-9AFE-79EBEE0E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17E5277-A201-4D0F-B93E-1BBBD730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4DB4BCC2-9B47-4F93-AF7E-F763BC23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FE09D7BB-F145-4B42-A82A-09F61C37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2BF99BAB-3D46-41E9-97DE-6DC183EF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escala ainda não virou relacionamento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673941B-F59C-4BEB-8DE6-936929E3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dos clientes fizeram dois ou mais pedidos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20CAF66-C3D8-4E70-B0E7-C8B1985D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7188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recompraram no mês seguinte, ponderando as coortes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7578976-8E04-4CC9-BB6B-E24245F2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6195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recentes de alto valor ainda têm uma compra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8F72112-8EC1-4E2F-B622-12C1CC0D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3,0%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5BC94371-3D6C-4C5D-9FD5-CC989328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8,7 mil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F7D14807-928E-4B60-9598-7534B7E2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0,5%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629B81FA-F72D-45F2-BB6C-6A9AEC07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padrão observado é transacional.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aquisição acelerou, mas a frequência segue concentrada em uma compra. A oportunidade é converter a primeira experiência em segunda compra.</a:t>
            </a:r>
          </a:p>
        </p:txBody>
      </p:sp>
    </p:spTree>
    <p:extLst>
      <p:ext uri="{BB962C8B-B14F-4D97-AF65-F5344CB8AC3E}">
        <p14:creationId xmlns:p14="http://schemas.microsoft.com/office/powerpoint/2010/main" val="10136823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5">
            <a:extLst xmlns:a="http://schemas.openxmlformats.org/drawingml/2006/main">
              <a:ext uri="{FF2B5EF4-FFF2-40B4-BE49-F238E27FC236}">
                <a16:creationId xmlns:a16="http://schemas.microsoft.com/office/drawing/2014/main" id="{8B7C3F8A-9373-414A-8807-C7FCAEC9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5572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0000"/>
                </a:solidFill>
              </a:defRPr>
            </a:pPr>
            <a:r>
              <a:rPr sz="2400">
                <a:solidFill>
                  <a:srgbClr val="000000"/>
                </a:solidFill>
              </a:rPr>
              <a:t>Atraso prolongado derruba a experiência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572125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815f1b527b74366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CEC14-0830-43FE-A16A-089BC75F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7F53E-0281-4AE7-A470-06F66F93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0525"/>
            <a:ext cx="95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BB2A2-FFD9-4727-ACE0-02C16379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9125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–5,2 p.p.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555FB-5ABC-41C1-9893-BF85F07F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28650"/>
            <a:ext cx="28860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A entrega no prazo caiu de 95,8% para 90,6%.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AE1F8-4FA6-4977-9AF8-66318DAE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EF424-6E37-47EB-8A9D-AAF0A798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71725"/>
            <a:ext cx="95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D39"/>
          </a:solidFill>
          <a:ln xmlns:a="http://schemas.openxmlformats.org/drawingml/2006/main" w="0">
            <a:solidFill>
              <a:srgbClr val="D95D3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CFF455-9CE3-4734-8D6C-30C78180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0325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78,3%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3A622-F43D-4CD1-8E32-88A28445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8860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dos pedidos com 8+ dias de atraso receberam nota 1 ou 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9CCA9-F2C1-45A1-8A5D-B35807F9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81500"/>
            <a:ext cx="553402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FC53B-7EFA-4CD3-868A-69434C85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381500"/>
            <a:ext cx="952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C7434-23D2-402D-8F09-8294454E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10100"/>
            <a:ext cx="1885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Leitura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F7550F-0733-4A82-8E00-18F1DDC1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9625"/>
            <a:ext cx="28860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</a:defRPr>
            </a:pPr>
            <a:r>
              <a:rPr sz="1500">
                <a:solidFill>
                  <a:srgbClr val="000000"/>
                </a:solidFill>
              </a:rPr>
              <a:t>A associação é forte, mas a causa deve ser testada por período, estado e vendedor.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635728EF-E2E7-442F-A0F3-BA647F86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</a:defRPr>
            </a:pPr>
            <a:r>
              <a:rPr sz="1000">
                <a:solidFill>
                  <a:srgbClr val="00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774339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B9ECC014-539D-4601-A03E-9B67F851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A941B9CC-BC6E-4A72-A99C-B6E33BDF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próxima alavanca é a segunda compra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CBF428A-9822-49EA-8A6D-0D502E7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925CC636-91E3-4102-AA1B-FF8216C7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76420CB-7099-4361-8F1A-74473B3A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0142B66B-5047-44B8-A479-178224AC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CA236662-2B0F-4A94-A397-C7E33A00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Selecionar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8,7 mil clientes recentes de alto valor; excluir ocorrências logísticas ainda abertas.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E41B25C3-54D2-4419-9296-612BE591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B7314BF5-DB86-4703-876E-08EA97ED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Experimentar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Oferta de segunda compra com 10% de controle e janela de observação de 30 dias.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8A05A2D5-F1EC-45F3-88B4-2507DA87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774B1F1F-F024-4401-908A-57FDEA54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Escalar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Decidir por GMV incremental, margem, custo por pedido e reclamação — não conversão bruta.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4106A2CA-2BB3-4C6A-A935-F8E2F8F9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524500"/>
            <a:ext cx="2595944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Causalidade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819CF04-9665-444B-88CC-BEA6A841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524500"/>
            <a:ext cx="2595944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Público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9B4A2086-6E49-4578-881F-CFDD2F8B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524500"/>
            <a:ext cx="2595944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Decisão</a:t>
            </a:r>
          </a:p>
        </p:txBody>
      </p:sp>
    </p:spTree>
    <p:extLst>
      <p:ext uri="{BB962C8B-B14F-4D97-AF65-F5344CB8AC3E}">
        <p14:creationId xmlns:p14="http://schemas.microsoft.com/office/powerpoint/2010/main" val="10549855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E9D88B04-3CD3-4A39-B8DE-6B7DDAB3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Escalar crescimento
sem escalar fricção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B4C50A7-0206-4F21-8C2F-9225AF67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Segunda compra com grupo de controle + recuperação de serviço para atrasos ≥4 dias.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4696A3B4-811E-4D84-AFB3-E3672E4C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RECOMENDAÇÃO</a:t>
            </a:r>
          </a:p>
        </p:txBody>
      </p:sp>
    </p:spTree>
    <p:extLst>
      <p:ext uri="{BB962C8B-B14F-4D97-AF65-F5344CB8AC3E}">
        <p14:creationId xmlns:p14="http://schemas.microsoft.com/office/powerpoint/2010/main" val="1736084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2026-08-23T19:56:13.3130000Z</dcterms:created>
  <dcterms:modified xsi:type="dcterms:W3CDTF">2026-08-23T19:56:13.3130000Z</dcterms:modified>
</coreProperties>
</file>